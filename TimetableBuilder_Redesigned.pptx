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3524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4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3524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3524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81544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81544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81544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81544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27848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27848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27848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27848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74152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74152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74152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74152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0456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0456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0456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0456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6676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6676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6676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6676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8280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5B6890"/>
                </a:solidFill>
                <a:latin typeface="Segoe UI"/>
              </a:rPr>
              <a:t>TIMETABLE BUILDER  ·  TEAM T22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479145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479602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9AA7C9"/>
                </a:solidFill>
                <a:latin typeface="Segoe UI"/>
              </a:rPr>
              <a:t>01 / 13</a:t>
            </a:r>
          </a:p>
        </p:txBody>
      </p:sp>
      <p:sp>
        <p:nvSpPr>
          <p:cNvPr id="30" name="Oval 29"/>
          <p:cNvSpPr/>
          <p:nvPr/>
        </p:nvSpPr>
        <p:spPr>
          <a:xfrm>
            <a:off x="6035040" y="-1188720"/>
            <a:ext cx="4206240" cy="4206240"/>
          </a:xfrm>
          <a:prstGeom prst="ellipse">
            <a:avLst/>
          </a:prstGeom>
          <a:solidFill>
            <a:srgbClr val="8B7C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949440" y="2651760"/>
            <a:ext cx="3108960" cy="3108960"/>
          </a:xfrm>
          <a:prstGeom prst="ellipse">
            <a:avLst/>
          </a:prstGeom>
          <a:solidFill>
            <a:srgbClr val="4FE3C1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818120" y="685800"/>
            <a:ext cx="777240" cy="777240"/>
          </a:xfrm>
          <a:prstGeom prst="ellipse">
            <a:avLst/>
          </a:prstGeom>
          <a:solidFill>
            <a:srgbClr val="8B7C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223760" y="1463040"/>
            <a:ext cx="146304" cy="146304"/>
          </a:xfrm>
          <a:prstGeom prst="ellipse">
            <a:avLst/>
          </a:prstGeom>
          <a:solidFill>
            <a:srgbClr val="4F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549640" y="2286000"/>
            <a:ext cx="100584" cy="100584"/>
          </a:xfrm>
          <a:prstGeom prst="ellipse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46520" y="1051560"/>
            <a:ext cx="402336" cy="329184"/>
          </a:xfrm>
          <a:prstGeom prst="roundRect">
            <a:avLst>
              <a:gd name="adj" fmla="val 18000"/>
            </a:avLst>
          </a:prstGeom>
          <a:solidFill>
            <a:srgbClr val="1A2342">
              <a:alpha val="100000"/>
            </a:srgbClr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922008" y="1051560"/>
            <a:ext cx="402336" cy="329184"/>
          </a:xfrm>
          <a:prstGeom prst="roundRect">
            <a:avLst>
              <a:gd name="adj" fmla="val 18000"/>
            </a:avLst>
          </a:prstGeom>
          <a:solidFill>
            <a:srgbClr val="8B7CFF">
              <a:alpha val="80000"/>
            </a:srgbClr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97496" y="1051560"/>
            <a:ext cx="402336" cy="329184"/>
          </a:xfrm>
          <a:prstGeom prst="roundRect">
            <a:avLst>
              <a:gd name="adj" fmla="val 18000"/>
            </a:avLst>
          </a:prstGeom>
          <a:solidFill>
            <a:srgbClr val="1A2342">
              <a:alpha val="100000"/>
            </a:srgbClr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72983" y="1051560"/>
            <a:ext cx="402336" cy="329184"/>
          </a:xfrm>
          <a:prstGeom prst="roundRect">
            <a:avLst>
              <a:gd name="adj" fmla="val 18000"/>
            </a:avLst>
          </a:prstGeom>
          <a:solidFill>
            <a:srgbClr val="1A2342">
              <a:alpha val="100000"/>
            </a:srgbClr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48471" y="1051560"/>
            <a:ext cx="402336" cy="329184"/>
          </a:xfrm>
          <a:prstGeom prst="roundRect">
            <a:avLst>
              <a:gd name="adj" fmla="val 18000"/>
            </a:avLst>
          </a:prstGeom>
          <a:solidFill>
            <a:srgbClr val="1A2342">
              <a:alpha val="100000"/>
            </a:srgbClr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46520" y="1472184"/>
            <a:ext cx="402336" cy="329184"/>
          </a:xfrm>
          <a:prstGeom prst="roundRect">
            <a:avLst>
              <a:gd name="adj" fmla="val 18000"/>
            </a:avLst>
          </a:prstGeom>
          <a:solidFill>
            <a:srgbClr val="1A2342">
              <a:alpha val="100000"/>
            </a:srgbClr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922008" y="1472184"/>
            <a:ext cx="402336" cy="329184"/>
          </a:xfrm>
          <a:prstGeom prst="roundRect">
            <a:avLst>
              <a:gd name="adj" fmla="val 18000"/>
            </a:avLst>
          </a:prstGeom>
          <a:solidFill>
            <a:srgbClr val="1A2342">
              <a:alpha val="100000"/>
            </a:srgbClr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397496" y="1472184"/>
            <a:ext cx="402336" cy="329184"/>
          </a:xfrm>
          <a:prstGeom prst="roundRect">
            <a:avLst>
              <a:gd name="adj" fmla="val 18000"/>
            </a:avLst>
          </a:prstGeom>
          <a:solidFill>
            <a:srgbClr val="1A2342">
              <a:alpha val="100000"/>
            </a:srgbClr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872983" y="1472184"/>
            <a:ext cx="402336" cy="329184"/>
          </a:xfrm>
          <a:prstGeom prst="roundRect">
            <a:avLst>
              <a:gd name="adj" fmla="val 18000"/>
            </a:avLst>
          </a:prstGeom>
          <a:solidFill>
            <a:srgbClr val="8B7CFF">
              <a:alpha val="80000"/>
            </a:srgbClr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348471" y="1472184"/>
            <a:ext cx="402336" cy="329184"/>
          </a:xfrm>
          <a:prstGeom prst="roundRect">
            <a:avLst>
              <a:gd name="adj" fmla="val 18000"/>
            </a:avLst>
          </a:prstGeom>
          <a:solidFill>
            <a:srgbClr val="1A2342">
              <a:alpha val="100000"/>
            </a:srgbClr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446520" y="1892807"/>
            <a:ext cx="402336" cy="329184"/>
          </a:xfrm>
          <a:prstGeom prst="roundRect">
            <a:avLst>
              <a:gd name="adj" fmla="val 18000"/>
            </a:avLst>
          </a:prstGeom>
          <a:solidFill>
            <a:srgbClr val="8B7CFF">
              <a:alpha val="80000"/>
            </a:srgbClr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922008" y="1892807"/>
            <a:ext cx="402336" cy="329184"/>
          </a:xfrm>
          <a:prstGeom prst="roundRect">
            <a:avLst>
              <a:gd name="adj" fmla="val 18000"/>
            </a:avLst>
          </a:prstGeom>
          <a:solidFill>
            <a:srgbClr val="1A2342">
              <a:alpha val="100000"/>
            </a:srgbClr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397496" y="1892807"/>
            <a:ext cx="402336" cy="329184"/>
          </a:xfrm>
          <a:prstGeom prst="roundRect">
            <a:avLst>
              <a:gd name="adj" fmla="val 18000"/>
            </a:avLst>
          </a:prstGeom>
          <a:solidFill>
            <a:srgbClr val="1A2342">
              <a:alpha val="100000"/>
            </a:srgbClr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872983" y="1892807"/>
            <a:ext cx="402336" cy="329184"/>
          </a:xfrm>
          <a:prstGeom prst="roundRect">
            <a:avLst>
              <a:gd name="adj" fmla="val 18000"/>
            </a:avLst>
          </a:prstGeom>
          <a:solidFill>
            <a:srgbClr val="1A2342">
              <a:alpha val="100000"/>
            </a:srgbClr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348471" y="1892807"/>
            <a:ext cx="402336" cy="329184"/>
          </a:xfrm>
          <a:prstGeom prst="roundRect">
            <a:avLst>
              <a:gd name="adj" fmla="val 18000"/>
            </a:avLst>
          </a:prstGeom>
          <a:solidFill>
            <a:srgbClr val="1A2342">
              <a:alpha val="100000"/>
            </a:srgbClr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566928"/>
            <a:ext cx="310896" cy="54864"/>
          </a:xfrm>
          <a:prstGeom prst="rect">
            <a:avLst/>
          </a:prstGeom>
          <a:solidFill>
            <a:srgbClr val="4F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6766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FE3C1"/>
                </a:solidFill>
                <a:latin typeface="Segoe UI"/>
              </a:rPr>
              <a:t>CSE / CSIT  ·  PSP-JAVA  ·  PROJECT T22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1234440"/>
            <a:ext cx="6035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EEF2FC"/>
                </a:solidFill>
                <a:latin typeface="Segoe UI"/>
              </a:rPr>
              <a:t>TIMETABLE</a:t>
            </a:r>
          </a:p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EEF2FC"/>
                </a:solidFill>
                <a:latin typeface="Segoe UI"/>
              </a:rPr>
              <a:t>BUILDER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2" y="2999232"/>
            <a:ext cx="1920240" cy="64008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320040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9AA7C9"/>
                </a:solidFill>
                <a:latin typeface="Segoe UI"/>
              </a:rPr>
              <a:t>Register courses, avoid clashes, and build your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9AA7C9"/>
                </a:solidFill>
                <a:latin typeface="Segoe UI"/>
              </a:rPr>
              <a:t>weekly timetable — </a:t>
            </a:r>
            <a:r>
              <a:rPr sz="1350" b="1" i="0">
                <a:solidFill>
                  <a:srgbClr val="4FE3C1"/>
                </a:solidFill>
                <a:latin typeface="Segoe UI"/>
              </a:rPr>
              <a:t>automatically.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4160520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1A2342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4192524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8B7CFF"/>
                </a:solidFill>
                <a:latin typeface="Segoe UI"/>
              </a:rPr>
              <a:t>JAVA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216152" y="4160520"/>
            <a:ext cx="1110996" cy="310896"/>
          </a:xfrm>
          <a:prstGeom prst="roundRect">
            <a:avLst>
              <a:gd name="adj" fmla="val 50000"/>
            </a:avLst>
          </a:prstGeom>
          <a:solidFill>
            <a:srgbClr val="1A2342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16152" y="4192524"/>
            <a:ext cx="11109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4FE3C1"/>
                </a:solidFill>
                <a:latin typeface="Segoe UI"/>
              </a:rPr>
              <a:t>CONSOLE APP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473452" y="4160520"/>
            <a:ext cx="1033272" cy="310896"/>
          </a:xfrm>
          <a:prstGeom prst="roundRect">
            <a:avLst>
              <a:gd name="adj" fmla="val 50000"/>
            </a:avLst>
          </a:prstGeom>
          <a:solidFill>
            <a:srgbClr val="1A2342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73452" y="4192524"/>
            <a:ext cx="1033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B454"/>
                </a:solidFill>
                <a:latin typeface="Segoe UI"/>
              </a:rPr>
              <a:t>OOP DESIGN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53028" y="4160520"/>
            <a:ext cx="1033272" cy="310896"/>
          </a:xfrm>
          <a:prstGeom prst="roundRect">
            <a:avLst>
              <a:gd name="adj" fmla="val 50000"/>
            </a:avLst>
          </a:prstGeom>
          <a:solidFill>
            <a:srgbClr val="1A2342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3028" y="4192524"/>
            <a:ext cx="1033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7AA2"/>
                </a:solidFill>
                <a:latin typeface="Segoe UI"/>
              </a:rPr>
              <a:t>CLASH-SAFE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47914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5B6890"/>
                </a:solidFill>
                <a:latin typeface="Segoe UI"/>
              </a:rPr>
              <a:t>TEAM T22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3524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4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3524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3524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81544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81544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81544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81544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27848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27848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27848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27848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74152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74152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74152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74152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0456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0456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0456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0456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6676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6676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6676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6676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8280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5B6890"/>
                </a:solidFill>
                <a:latin typeface="Segoe UI"/>
              </a:rPr>
              <a:t>TIMETABLE BUILDER  ·  TEAM T22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77639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4000" b="1" i="0">
                <a:solidFill>
                  <a:srgbClr val="5B6890"/>
                </a:solidFill>
                <a:latin typeface="Segoe UI Light"/>
              </a:rPr>
              <a:t>02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79145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479602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9AA7C9"/>
                </a:solidFill>
                <a:latin typeface="Segoe UI"/>
              </a:rPr>
              <a:t>02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75488"/>
            <a:ext cx="274320" cy="50292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8B7CFF"/>
                </a:solidFill>
                <a:latin typeface="Segoe UI"/>
              </a:rPr>
              <a:t>ABSTRACT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804672"/>
            <a:ext cx="7863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EF2FC"/>
                </a:solidFill>
                <a:latin typeface="Segoe UI"/>
              </a:rPr>
              <a:t>What our project does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1389888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AA7C9"/>
                </a:solidFill>
                <a:latin typeface="Segoe UI"/>
              </a:rPr>
              <a:t>A menu-driven Java console app — from course catalog to a conflict-free weekly grid.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1783080"/>
            <a:ext cx="3977639" cy="201168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7512" y="1965960"/>
            <a:ext cx="310896" cy="41148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2084831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7CFF"/>
                </a:solidFill>
                <a:latin typeface="Segoe UI"/>
              </a:rPr>
              <a:t>THE IDEA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2359152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EEF2FC"/>
                </a:solidFill>
                <a:latin typeface="Segoe UI"/>
              </a:rPr>
              <a:t>A student registers courses from a catalog and instantly receives a ready-made weekly timetable — no Excel, no paper, no manual planning.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1783080"/>
            <a:ext cx="3977639" cy="201168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28031" y="1965960"/>
            <a:ext cx="310896" cy="41148"/>
          </a:xfrm>
          <a:prstGeom prst="rect">
            <a:avLst/>
          </a:prstGeom>
          <a:solidFill>
            <a:srgbClr val="4F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92040" y="2084831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FE3C1"/>
                </a:solidFill>
                <a:latin typeface="Segoe UI"/>
              </a:rPr>
              <a:t>THE SMART PART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2040" y="2359152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EEF2FC"/>
                </a:solidFill>
                <a:latin typeface="Segoe UI"/>
              </a:rPr>
              <a:t>Before every registration the program checks for a time clash — same day + same slot — and blocks it. The final timetable is always conflict-free.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3950208"/>
            <a:ext cx="8138160" cy="621792"/>
          </a:xfrm>
          <a:prstGeom prst="roundRect">
            <a:avLst>
              <a:gd name="adj" fmla="val 14000"/>
            </a:avLst>
          </a:prstGeom>
          <a:solidFill>
            <a:srgbClr val="1A2342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0690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FB454"/>
                </a:solidFill>
                <a:latin typeface="Segoe UI"/>
              </a:rPr>
              <a:t>BUILT WITH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261104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A7C9"/>
                </a:solidFill>
                <a:latin typeface="Segoe UI"/>
              </a:rPr>
              <a:t>Classes &amp; Objects  ·  Constructors  ·  1D &amp; 2D Arrays  ·  Methods  ·  Scanner  ·  Loops &amp; Switch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4041648"/>
            <a:ext cx="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3524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4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3524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3524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81544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81544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81544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81544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27848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27848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27848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27848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74152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74152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74152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74152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0456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0456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0456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0456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6676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6676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6676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6676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8280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5B6890"/>
                </a:solidFill>
                <a:latin typeface="Segoe UI"/>
              </a:rPr>
              <a:t>TIMETABLE BUILDER  ·  TEAM T22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77639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4000" b="1" i="0">
                <a:solidFill>
                  <a:srgbClr val="5B6890"/>
                </a:solidFill>
                <a:latin typeface="Segoe UI Light"/>
              </a:rPr>
              <a:t>03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79145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479602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9AA7C9"/>
                </a:solidFill>
                <a:latin typeface="Segoe UI"/>
              </a:rPr>
              <a:t>03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75488"/>
            <a:ext cx="274320" cy="50292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B454"/>
                </a:solidFill>
                <a:latin typeface="Segoe UI"/>
              </a:rPr>
              <a:t>THE PROBLEM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804672"/>
            <a:ext cx="7863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EF2FC"/>
                </a:solidFill>
                <a:latin typeface="Segoe UI"/>
              </a:rPr>
              <a:t>Why this project was needed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1389888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AA7C9"/>
                </a:solidFill>
                <a:latin typeface="Segoe UI"/>
              </a:rPr>
              <a:t>Course registration is simple on paper — and quietly chaotic in practice.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1783080"/>
            <a:ext cx="2615184" cy="960120"/>
          </a:xfrm>
          <a:prstGeom prst="roundRect">
            <a:avLst>
              <a:gd name="adj" fmla="val 120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190195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8B7CFF"/>
                </a:solidFill>
                <a:latin typeface="Segoe UI"/>
              </a:rPr>
              <a:t>6+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" y="235915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9AA7C9"/>
                </a:solidFill>
                <a:latin typeface="Segoe UI"/>
              </a:rPr>
              <a:t>courses per semester, per student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64408" y="1783080"/>
            <a:ext cx="2615184" cy="960120"/>
          </a:xfrm>
          <a:prstGeom prst="roundRect">
            <a:avLst>
              <a:gd name="adj" fmla="val 120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65576" y="190195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4FE3C1"/>
                </a:solidFill>
                <a:latin typeface="Segoe UI"/>
              </a:rPr>
              <a:t>5 ×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65576" y="235915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9AA7C9"/>
                </a:solidFill>
                <a:latin typeface="Segoe UI"/>
              </a:rPr>
              <a:t>day–slot combinations to track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25896" y="1783080"/>
            <a:ext cx="2615184" cy="960120"/>
          </a:xfrm>
          <a:prstGeom prst="roundRect">
            <a:avLst>
              <a:gd name="adj" fmla="val 120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7064" y="190195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B454"/>
                </a:solidFill>
                <a:latin typeface="Segoe UI"/>
              </a:rPr>
              <a:t>100%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27064" y="235915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9AA7C9"/>
                </a:solidFill>
                <a:latin typeface="Segoe UI"/>
              </a:rPr>
              <a:t>clash-free guarantee after registration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2971800"/>
            <a:ext cx="2615184" cy="1170432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67512" y="3154680"/>
            <a:ext cx="310896" cy="41148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" y="3227832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7CFF"/>
                </a:solidFill>
                <a:latin typeface="Segoe UI"/>
              </a:rPr>
              <a:t>REGISTRATION OVERLOAD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" y="347472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A7C9"/>
                </a:solidFill>
                <a:latin typeface="Segoe UI"/>
              </a:rPr>
              <a:t>Students pick many courses each semester — all with different days and time slots.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64408" y="2971800"/>
            <a:ext cx="2615184" cy="1170432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429000" y="3154680"/>
            <a:ext cx="310896" cy="41148"/>
          </a:xfrm>
          <a:prstGeom prst="rect">
            <a:avLst/>
          </a:prstGeom>
          <a:solidFill>
            <a:srgbClr val="FF7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65576" y="3227832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7AA2"/>
                </a:solidFill>
                <a:latin typeface="Segoe UI"/>
              </a:rPr>
              <a:t>HIDDEN TIME CLASHES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65576" y="347472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A7C9"/>
                </a:solidFill>
                <a:latin typeface="Segoe UI"/>
              </a:rPr>
              <a:t>Two chosen courses can silently land on the same day at the same hour.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25896" y="2971800"/>
            <a:ext cx="2615184" cy="1170432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90488" y="3154680"/>
            <a:ext cx="310896" cy="41148"/>
          </a:xfrm>
          <a:prstGeom prst="rect">
            <a:avLst/>
          </a:prstGeom>
          <a:solidFill>
            <a:srgbClr val="4F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27064" y="3227832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4FE3C1"/>
                </a:solidFill>
                <a:latin typeface="Segoe UI"/>
              </a:rPr>
              <a:t>MANUAL TIMETABLES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27064" y="347472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A7C9"/>
                </a:solidFill>
                <a:latin typeface="Segoe UI"/>
              </a:rPr>
              <a:t>Drawing and updating a personal timetable by hand is slow and error-prone.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" y="4315968"/>
            <a:ext cx="8138160" cy="384048"/>
          </a:xfrm>
          <a:prstGeom prst="roundRect">
            <a:avLst>
              <a:gd name="adj" fmla="val 50000"/>
            </a:avLst>
          </a:prstGeom>
          <a:solidFill>
            <a:srgbClr val="12261F"/>
          </a:solidFill>
          <a:ln w="9525">
            <a:solidFill>
              <a:srgbClr val="1E4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4379976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4FE3C1"/>
                </a:solidFill>
                <a:latin typeface="Segoe UI"/>
              </a:rPr>
              <a:t>THE SOLUTION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4379976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EEF2FC"/>
                </a:solidFill>
                <a:latin typeface="Segoe UI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4517136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EEF2FC"/>
                </a:solidFill>
                <a:latin typeface="Segoe UI"/>
              </a:rPr>
              <a:t>Store the catalog  ·  check clashes while registering  ·  generate the grid instantly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3524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4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3524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3524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81544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81544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81544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81544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27848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27848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27848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27848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74152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74152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74152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74152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0456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0456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0456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0456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6676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6676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6676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6676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8280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5B6890"/>
                </a:solidFill>
                <a:latin typeface="Segoe UI"/>
              </a:rPr>
              <a:t>TIMETABLE BUILDER  ·  TEAM T22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77639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4000" b="1" i="0">
                <a:solidFill>
                  <a:srgbClr val="5B6890"/>
                </a:solidFill>
                <a:latin typeface="Segoe UI Light"/>
              </a:rPr>
              <a:t>04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79145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479602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9AA7C9"/>
                </a:solidFill>
                <a:latin typeface="Segoe UI"/>
              </a:rPr>
              <a:t>04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75488"/>
            <a:ext cx="274320" cy="50292"/>
          </a:xfrm>
          <a:prstGeom prst="rect">
            <a:avLst/>
          </a:prstGeom>
          <a:solidFill>
            <a:srgbClr val="4F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FE3C1"/>
                </a:solidFill>
                <a:latin typeface="Segoe UI"/>
              </a:rPr>
              <a:t>CO 2 · ALGORITHM, SELECTION &amp; REPETITION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804672"/>
            <a:ext cx="7863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EF2FC"/>
                </a:solidFill>
                <a:latin typeface="Segoe UI"/>
              </a:rPr>
              <a:t>How it works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1389888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AA7C9"/>
                </a:solidFill>
                <a:latin typeface="Segoe UI"/>
              </a:rPr>
              <a:t>One clear pipeline — from menu start to printed timetable.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1828800"/>
            <a:ext cx="2615184" cy="1170432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7512" y="2011680"/>
            <a:ext cx="310896" cy="41148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85800" y="1993392"/>
            <a:ext cx="310896" cy="310896"/>
          </a:xfrm>
          <a:prstGeom prst="ellipse">
            <a:avLst/>
          </a:prstGeom>
          <a:solidFill>
            <a:srgbClr val="8B7C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1997964"/>
            <a:ext cx="3108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8B7CFF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" y="202082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EF2FC"/>
                </a:solidFill>
                <a:latin typeface="Segoe UI"/>
              </a:rPr>
              <a:t>START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2395728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AA7C9"/>
                </a:solidFill>
                <a:latin typeface="Segoe UI"/>
              </a:rPr>
              <a:t>Program shows the main menu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64408" y="1828800"/>
            <a:ext cx="2615184" cy="1170432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29000" y="2011680"/>
            <a:ext cx="310896" cy="41148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47288" y="1993392"/>
            <a:ext cx="310896" cy="310896"/>
          </a:xfrm>
          <a:prstGeom prst="ellipse">
            <a:avLst/>
          </a:prstGeom>
          <a:solidFill>
            <a:srgbClr val="8B7C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47288" y="1997964"/>
            <a:ext cx="3108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8B7CFF"/>
                </a:solidFill>
                <a:latin typeface="Segoe U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67912" y="202082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EF2FC"/>
                </a:solidFill>
                <a:latin typeface="Segoe UI"/>
              </a:rPr>
              <a:t>INPUT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47288" y="2395728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AA7C9"/>
                </a:solidFill>
                <a:latin typeface="Segoe UI"/>
              </a:rPr>
              <a:t>Student name, roll no, menu choice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25896" y="1828800"/>
            <a:ext cx="2615184" cy="1170432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90488" y="2011680"/>
            <a:ext cx="310896" cy="41148"/>
          </a:xfrm>
          <a:prstGeom prst="rect">
            <a:avLst/>
          </a:prstGeom>
          <a:solidFill>
            <a:srgbClr val="4F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208776" y="1993392"/>
            <a:ext cx="310896" cy="310896"/>
          </a:xfrm>
          <a:prstGeom prst="ellipse">
            <a:avLst/>
          </a:prstGeom>
          <a:solidFill>
            <a:srgbClr val="4FE3C1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08776" y="1997964"/>
            <a:ext cx="3108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4FE3C1"/>
                </a:solidFill>
                <a:latin typeface="Segoe UI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9400" y="202082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EF2FC"/>
                </a:solidFill>
                <a:latin typeface="Segoe UI"/>
              </a:rPr>
              <a:t>SEARCH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08776" y="2395728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AA7C9"/>
                </a:solidFill>
                <a:latin typeface="Segoe UI"/>
              </a:rPr>
              <a:t>Find course in catalog (1D array)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3127248"/>
            <a:ext cx="2615184" cy="1170432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67512" y="3310128"/>
            <a:ext cx="310896" cy="41148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85800" y="3291840"/>
            <a:ext cx="310896" cy="310896"/>
          </a:xfrm>
          <a:prstGeom prst="ellipse">
            <a:avLst/>
          </a:prstGeom>
          <a:solidFill>
            <a:srgbClr val="FFB454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296412"/>
            <a:ext cx="3108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B454"/>
                </a:solidFill>
                <a:latin typeface="Segoe U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6424" y="331927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EF2FC"/>
                </a:solidFill>
                <a:latin typeface="Segoe UI"/>
              </a:rPr>
              <a:t>CLASH CHECK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3694176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AA7C9"/>
                </a:solidFill>
                <a:latin typeface="Segoe UI"/>
              </a:rPr>
              <a:t>Same day + slot? Block or allow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264408" y="3127248"/>
            <a:ext cx="2615184" cy="1170432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429000" y="3310128"/>
            <a:ext cx="310896" cy="41148"/>
          </a:xfrm>
          <a:prstGeom prst="rect">
            <a:avLst/>
          </a:prstGeom>
          <a:solidFill>
            <a:srgbClr val="4F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447288" y="3291840"/>
            <a:ext cx="310896" cy="310896"/>
          </a:xfrm>
          <a:prstGeom prst="ellipse">
            <a:avLst/>
          </a:prstGeom>
          <a:solidFill>
            <a:srgbClr val="4FE3C1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47288" y="3296412"/>
            <a:ext cx="3108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4FE3C1"/>
                </a:solidFill>
                <a:latin typeface="Segoe UI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67912" y="331927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EF2FC"/>
                </a:solidFill>
                <a:latin typeface="Segoe UI"/>
              </a:rPr>
              <a:t>STORE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47288" y="3694176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AA7C9"/>
                </a:solidFill>
                <a:latin typeface="Segoe UI"/>
              </a:rPr>
              <a:t>Save course in student's array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25896" y="3127248"/>
            <a:ext cx="2615184" cy="1170432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90488" y="3310128"/>
            <a:ext cx="310896" cy="41148"/>
          </a:xfrm>
          <a:prstGeom prst="rect">
            <a:avLst/>
          </a:prstGeom>
          <a:solidFill>
            <a:srgbClr val="FF7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208776" y="3291840"/>
            <a:ext cx="310896" cy="310896"/>
          </a:xfrm>
          <a:prstGeom prst="ellipse">
            <a:avLst/>
          </a:prstGeom>
          <a:solidFill>
            <a:srgbClr val="FF7AA2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08776" y="3296412"/>
            <a:ext cx="3108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7AA2"/>
                </a:solidFill>
                <a:latin typeface="Segoe UI"/>
              </a:rPr>
              <a:t>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29400" y="331927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EF2FC"/>
                </a:solidFill>
                <a:latin typeface="Segoe UI"/>
              </a:rPr>
              <a:t>OUTPUT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08776" y="3694176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AA7C9"/>
                </a:solidFill>
                <a:latin typeface="Segoe UI"/>
              </a:rPr>
              <a:t>Print timetable (2D array) + credits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4434840"/>
            <a:ext cx="8138160" cy="384048"/>
          </a:xfrm>
          <a:prstGeom prst="roundRect">
            <a:avLst>
              <a:gd name="adj" fmla="val 50000"/>
            </a:avLst>
          </a:prstGeom>
          <a:solidFill>
            <a:srgbClr val="1A2342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" y="449884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B454"/>
                </a:solidFill>
                <a:latin typeface="Segoe UI"/>
              </a:rPr>
              <a:t>SELECTION </a:t>
            </a:r>
            <a:r>
              <a:rPr sz="950" b="0" i="0">
                <a:solidFill>
                  <a:srgbClr val="9AA7C9"/>
                </a:solidFill>
                <a:latin typeface="Segoe UI"/>
              </a:rPr>
              <a:t>if-else blocks a course on clash    </a:t>
            </a:r>
            <a:r>
              <a:rPr sz="900" b="1" i="0">
                <a:solidFill>
                  <a:srgbClr val="4FE3C1"/>
                </a:solidFill>
                <a:latin typeface="Segoe UI"/>
              </a:rPr>
              <a:t>REPETITION </a:t>
            </a:r>
            <a:r>
              <a:rPr sz="950" b="0" i="0">
                <a:solidFill>
                  <a:srgbClr val="9AA7C9"/>
                </a:solidFill>
                <a:latin typeface="Segoe UI"/>
              </a:rPr>
              <a:t>for-loops traverse catalog &amp; registrations    </a:t>
            </a:r>
            <a:r>
              <a:rPr sz="900" b="1" i="0">
                <a:solidFill>
                  <a:srgbClr val="8B7CFF"/>
                </a:solidFill>
                <a:latin typeface="Segoe UI"/>
              </a:rPr>
              <a:t>ALGORITHM </a:t>
            </a:r>
            <a:r>
              <a:rPr sz="950" b="0" i="0">
                <a:solidFill>
                  <a:srgbClr val="9AA7C9"/>
                </a:solidFill>
                <a:latin typeface="Segoe UI"/>
              </a:rPr>
              <a:t>search → verify → store → display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3524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4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3524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3524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81544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81544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81544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81544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27848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27848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27848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27848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74152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74152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74152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74152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0456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0456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0456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0456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6676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6676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6676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6676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8280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5B6890"/>
                </a:solidFill>
                <a:latin typeface="Segoe UI"/>
              </a:rPr>
              <a:t>TIMETABLE BUILDER  ·  TEAM T22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77639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4000" b="1" i="0">
                <a:solidFill>
                  <a:srgbClr val="5B6890"/>
                </a:solidFill>
                <a:latin typeface="Segoe UI Light"/>
              </a:rP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79145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479602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9AA7C9"/>
                </a:solidFill>
                <a:latin typeface="Segoe UI"/>
              </a:rPr>
              <a:t>05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75488"/>
            <a:ext cx="274320" cy="50292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8B7CFF"/>
                </a:solidFill>
                <a:latin typeface="Segoe UI"/>
              </a:rPr>
              <a:t>CO 1 · JAVA FOUNDATIONS (MODULE 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804672"/>
            <a:ext cx="7863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EF2FC"/>
                </a:solidFill>
                <a:latin typeface="Segoe UI"/>
              </a:rPr>
              <a:t>Java basics, in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1389888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AA7C9"/>
                </a:solidFill>
                <a:latin typeface="Segoe UI"/>
              </a:rPr>
              <a:t>The vocabulary of the whole program — input, types, operators, control flow.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1828800"/>
            <a:ext cx="3977639" cy="118872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7512" y="2011680"/>
            <a:ext cx="310896" cy="41148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" y="208483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8B7CFF"/>
                </a:solidFill>
                <a:latin typeface="Segoe UI"/>
              </a:rPr>
              <a:t>Scanner Class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" y="2340864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EEF2FC"/>
                </a:solidFill>
                <a:latin typeface="Segoe UI"/>
              </a:rPr>
              <a:t>nextInt(), nextLine() and next() read the student name, roll number and every menu choice from the keyboard.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1828800"/>
            <a:ext cx="3977639" cy="118872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28031" y="2011680"/>
            <a:ext cx="310896" cy="41148"/>
          </a:xfrm>
          <a:prstGeom prst="rect">
            <a:avLst/>
          </a:prstGeom>
          <a:solidFill>
            <a:srgbClr val="4F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82896" y="208483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FE3C1"/>
                </a:solidFill>
                <a:latin typeface="Segoe UI"/>
              </a:rPr>
              <a:t>Data Types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82896" y="2340864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EEF2FC"/>
                </a:solidFill>
                <a:latin typeface="Segoe UI"/>
              </a:rPr>
              <a:t>String holds names &amp; course codes; int holds credits, day and slot values.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3127248"/>
            <a:ext cx="3977639" cy="118872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7512" y="3310128"/>
            <a:ext cx="310896" cy="41148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" y="338328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B454"/>
                </a:solidFill>
                <a:latin typeface="Segoe UI"/>
              </a:rPr>
              <a:t>Operators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" y="3639312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EEF2FC"/>
                </a:solidFill>
                <a:latin typeface="Segoe UI"/>
              </a:rPr>
              <a:t>Relational == compares course codes; logical &amp;&amp; combines day &amp; slot in the clash check.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63440" y="3127248"/>
            <a:ext cx="3977639" cy="118872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28031" y="3310128"/>
            <a:ext cx="310896" cy="41148"/>
          </a:xfrm>
          <a:prstGeom prst="rect">
            <a:avLst/>
          </a:prstGeom>
          <a:solidFill>
            <a:srgbClr val="FF7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82896" y="338328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7AA2"/>
                </a:solidFill>
                <a:latin typeface="Segoe UI"/>
              </a:rPr>
              <a:t>Loops &amp; Switch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82896" y="3639312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EEF2FC"/>
                </a:solidFill>
                <a:latin typeface="Segoe UI"/>
              </a:rPr>
              <a:t>A do-while runs the menu until exit; a switch dispatches each menu action.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4462272"/>
            <a:ext cx="8138160" cy="365760"/>
          </a:xfrm>
          <a:prstGeom prst="roundRect">
            <a:avLst>
              <a:gd name="adj" fmla="val 50000"/>
            </a:avLst>
          </a:prstGeom>
          <a:solidFill>
            <a:srgbClr val="1B1533"/>
          </a:solidFill>
          <a:ln w="9525">
            <a:solidFill>
              <a:srgbClr val="3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452170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8B7CFF"/>
                </a:solidFill>
                <a:latin typeface="Segoe UI"/>
              </a:rPr>
              <a:t>WHERE IT LIVES   </a:t>
            </a:r>
            <a:r>
              <a:rPr sz="950" b="0" i="0">
                <a:solidFill>
                  <a:srgbClr val="9AA7C9"/>
                </a:solidFill>
                <a:latin typeface="Segoe UI"/>
              </a:rPr>
              <a:t>the entire input &amp; menu logic of TimetableBuilder.java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3524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4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3524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3524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81544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81544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81544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81544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27848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27848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27848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27848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74152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74152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74152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74152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0456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0456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0456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0456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6676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6676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6676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6676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8280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5B6890"/>
                </a:solidFill>
                <a:latin typeface="Segoe UI"/>
              </a:rPr>
              <a:t>TIMETABLE BUILDER  ·  TEAM T22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77639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4000" b="1" i="0">
                <a:solidFill>
                  <a:srgbClr val="5B6890"/>
                </a:solidFill>
                <a:latin typeface="Segoe UI Light"/>
              </a:rPr>
              <a:t>06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79145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479602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9AA7C9"/>
                </a:solidFill>
                <a:latin typeface="Segoe UI"/>
              </a:rPr>
              <a:t>06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75488"/>
            <a:ext cx="274320" cy="50292"/>
          </a:xfrm>
          <a:prstGeom prst="rect">
            <a:avLst/>
          </a:prstGeom>
          <a:solidFill>
            <a:srgbClr val="4F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FE3C1"/>
                </a:solidFill>
                <a:latin typeface="Segoe UI"/>
              </a:rPr>
              <a:t>CO 3 · METHODS &amp; ARRAYS (MODULE 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804672"/>
            <a:ext cx="7863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EF2FC"/>
                </a:solidFill>
                <a:latin typeface="Segoe UI"/>
              </a:rPr>
              <a:t>Methods &amp; arrays, in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1389888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AA7C9"/>
                </a:solidFill>
                <a:latin typeface="Segoe UI"/>
              </a:rPr>
              <a:t>Small reusable methods over three kinds of arrays — the engine of the builder.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1828800"/>
            <a:ext cx="3977639" cy="118872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7512" y="2011680"/>
            <a:ext cx="310896" cy="41148"/>
          </a:xfrm>
          <a:prstGeom prst="rect">
            <a:avLst/>
          </a:prstGeom>
          <a:solidFill>
            <a:srgbClr val="4F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" y="208483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FE3C1"/>
                </a:solidFill>
                <a:latin typeface="Segoe UI"/>
              </a:rPr>
              <a:t>Methods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" y="2340864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EEF2FC"/>
                </a:solidFill>
                <a:latin typeface="Segoe UI"/>
              </a:rPr>
              <a:t>addCourse(), showTimetable() and totalCredits() keep the code modular and reusable.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1828800"/>
            <a:ext cx="3977639" cy="118872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28031" y="2011680"/>
            <a:ext cx="310896" cy="41148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82896" y="208483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8B7CFF"/>
                </a:solidFill>
                <a:latin typeface="Segoe UI"/>
              </a:rPr>
              <a:t>1D Arrays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82896" y="2340864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EEF2FC"/>
                </a:solidFill>
                <a:latin typeface="Segoe UI"/>
              </a:rPr>
              <a:t>Course cat[] stores the catalog; Course c[] holds the student's registered courses.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3127248"/>
            <a:ext cx="3977639" cy="118872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7512" y="3310128"/>
            <a:ext cx="310896" cy="41148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" y="338328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B454"/>
                </a:solidFill>
                <a:latin typeface="Segoe UI"/>
              </a:rPr>
              <a:t>2D Array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" y="3639312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EEF2FC"/>
                </a:solidFill>
                <a:latin typeface="Segoe UI"/>
              </a:rPr>
              <a:t>String tt[5][3] is the timetable matrix — 5 days × 3 time slots.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63440" y="3127248"/>
            <a:ext cx="3977639" cy="118872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28031" y="3310128"/>
            <a:ext cx="310896" cy="41148"/>
          </a:xfrm>
          <a:prstGeom prst="rect">
            <a:avLst/>
          </a:prstGeom>
          <a:solidFill>
            <a:srgbClr val="FF7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82896" y="338328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7AA2"/>
                </a:solidFill>
                <a:latin typeface="Segoe UI"/>
              </a:rPr>
              <a:t>Traversal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82896" y="3639312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EEF2FC"/>
                </a:solidFill>
                <a:latin typeface="Segoe UI"/>
              </a:rPr>
              <a:t>for-loops walk the catalog to search, and the grid to print the timetable.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4462272"/>
            <a:ext cx="8138160" cy="365760"/>
          </a:xfrm>
          <a:prstGeom prst="roundRect">
            <a:avLst>
              <a:gd name="adj" fmla="val 50000"/>
            </a:avLst>
          </a:prstGeom>
          <a:solidFill>
            <a:srgbClr val="1B1533"/>
          </a:solidFill>
          <a:ln w="9525">
            <a:solidFill>
              <a:srgbClr val="3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452170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8B7CFF"/>
                </a:solidFill>
                <a:latin typeface="Segoe UI"/>
              </a:rPr>
              <a:t>WHERE IT LIVES   </a:t>
            </a:r>
            <a:r>
              <a:rPr sz="950" b="0" i="0">
                <a:solidFill>
                  <a:srgbClr val="9AA7C9"/>
                </a:solidFill>
                <a:latin typeface="Segoe UI"/>
              </a:rPr>
              <a:t>showTimetable() builds the 5 × 3 matrix from the registered courses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3524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4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3524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3524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81544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81544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81544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81544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27848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27848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27848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27848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74152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74152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74152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74152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0456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0456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0456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0456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6676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6676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6676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6676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8280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5B6890"/>
                </a:solidFill>
                <a:latin typeface="Segoe UI"/>
              </a:rPr>
              <a:t>TIMETABLE BUILDER  ·  TEAM T22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77639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4000" b="1" i="0">
                <a:solidFill>
                  <a:srgbClr val="5B6890"/>
                </a:solidFill>
                <a:latin typeface="Segoe UI Light"/>
              </a:rPr>
              <a:t>07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79145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479602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9AA7C9"/>
                </a:solidFill>
                <a:latin typeface="Segoe UI"/>
              </a:rPr>
              <a:t>07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75488"/>
            <a:ext cx="274320" cy="50292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B454"/>
                </a:solidFill>
                <a:latin typeface="Segoe UI"/>
              </a:rPr>
              <a:t>CO 4 · CLASSES, OBJECTS, CONSTRUCTORS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804672"/>
            <a:ext cx="7863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EF2FC"/>
                </a:solidFill>
                <a:latin typeface="Segoe UI"/>
              </a:rPr>
              <a:t>Classes &amp; objects, in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1389888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AA7C9"/>
                </a:solidFill>
                <a:latin typeface="Segoe UI"/>
              </a:rPr>
              <a:t>Two blueprints — Course and Student — and everything the program does with them.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1828800"/>
            <a:ext cx="3977639" cy="118872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7512" y="2011680"/>
            <a:ext cx="310896" cy="41148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" y="208483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B454"/>
                </a:solidFill>
                <a:latin typeface="Segoe UI"/>
              </a:rPr>
              <a:t>Class Course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" y="2340864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EEF2FC"/>
                </a:solidFill>
                <a:latin typeface="Segoe UI"/>
              </a:rPr>
              <a:t>Fields: code, name, credits, day, time — the blueprint of every course in the catalog.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1828800"/>
            <a:ext cx="3977639" cy="118872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28031" y="2011680"/>
            <a:ext cx="310896" cy="41148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82896" y="208483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8B7CFF"/>
                </a:solidFill>
                <a:latin typeface="Segoe UI"/>
              </a:rPr>
              <a:t>Constructors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82896" y="2340864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EEF2FC"/>
                </a:solidFill>
                <a:latin typeface="Segoe UI"/>
              </a:rPr>
              <a:t>Default Course() and parameterized Course(code, name, credits, day, time).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3127248"/>
            <a:ext cx="3977639" cy="118872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7512" y="3310128"/>
            <a:ext cx="310896" cy="41148"/>
          </a:xfrm>
          <a:prstGeom prst="rect">
            <a:avLst/>
          </a:prstGeom>
          <a:solidFill>
            <a:srgbClr val="4F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" y="338328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FE3C1"/>
                </a:solidFill>
                <a:latin typeface="Segoe UI"/>
              </a:rPr>
              <a:t>Class Student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" y="3639312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EEF2FC"/>
                </a:solidFill>
                <a:latin typeface="Segoe UI"/>
              </a:rPr>
              <a:t>Fields: name, roll, Course c[] — each student owns an array of courses.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63440" y="3127248"/>
            <a:ext cx="3977639" cy="118872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28031" y="3310128"/>
            <a:ext cx="310896" cy="41148"/>
          </a:xfrm>
          <a:prstGeom prst="rect">
            <a:avLst/>
          </a:prstGeom>
          <a:solidFill>
            <a:srgbClr val="FF7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82896" y="338328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7AA2"/>
                </a:solidFill>
                <a:latin typeface="Segoe UI"/>
              </a:rPr>
              <a:t>Objects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82896" y="3639312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EEF2FC"/>
                </a:solidFill>
                <a:latin typeface="Segoe UI"/>
              </a:rPr>
              <a:t>new creates catalog entries and the Student; members are accessed via s.addCourse(…).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4462272"/>
            <a:ext cx="8138160" cy="365760"/>
          </a:xfrm>
          <a:prstGeom prst="roundRect">
            <a:avLst>
              <a:gd name="adj" fmla="val 50000"/>
            </a:avLst>
          </a:prstGeom>
          <a:solidFill>
            <a:srgbClr val="1B1533"/>
          </a:solidFill>
          <a:ln w="9525">
            <a:solidFill>
              <a:srgbClr val="3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452170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8B7CFF"/>
                </a:solidFill>
                <a:latin typeface="Segoe UI"/>
              </a:rPr>
              <a:t>WHERE IT LIVES   </a:t>
            </a:r>
            <a:r>
              <a:rPr sz="950" b="0" i="0">
                <a:solidFill>
                  <a:srgbClr val="9AA7C9"/>
                </a:solidFill>
                <a:latin typeface="Segoe UI"/>
              </a:rPr>
              <a:t>the whole program is built around the Course &amp; Student classes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3524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4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3524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3524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81544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81544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81544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81544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27848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27848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27848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27848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74152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74152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74152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74152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0456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0456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0456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0456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6676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6676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6676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6676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8280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5B6890"/>
                </a:solidFill>
                <a:latin typeface="Segoe UI"/>
              </a:rPr>
              <a:t>TIMETABLE BUILDER  ·  TEAM T22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77639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4000" b="1" i="0">
                <a:solidFill>
                  <a:srgbClr val="5B6890"/>
                </a:solidFill>
                <a:latin typeface="Segoe UI Light"/>
              </a:rPr>
              <a:t>08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79145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479602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9AA7C9"/>
                </a:solidFill>
                <a:latin typeface="Segoe UI"/>
              </a:rPr>
              <a:t>08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75488"/>
            <a:ext cx="274320" cy="50292"/>
          </a:xfrm>
          <a:prstGeom prst="rect">
            <a:avLst/>
          </a:prstGeom>
          <a:solidFill>
            <a:srgbClr val="FF7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7AA2"/>
                </a:solidFill>
                <a:latin typeface="Segoe UI"/>
              </a:rPr>
              <a:t>CO 5 · OOP PILLARS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804672"/>
            <a:ext cx="7863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EF2FC"/>
                </a:solidFill>
                <a:latin typeface="Segoe UI"/>
              </a:rPr>
              <a:t>The four pillars, in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1389888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AA7C9"/>
                </a:solidFill>
                <a:latin typeface="Segoe UI"/>
              </a:rPr>
              <a:t>How encapsulation, polymorphism, abstraction and reusability show up in the design.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1828800"/>
            <a:ext cx="3977639" cy="118872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7512" y="2011680"/>
            <a:ext cx="310896" cy="41148"/>
          </a:xfrm>
          <a:prstGeom prst="rect">
            <a:avLst/>
          </a:prstGeom>
          <a:solidFill>
            <a:srgbClr val="FF7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" y="208483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7AA2"/>
                </a:solidFill>
                <a:latin typeface="Segoe UI"/>
              </a:rPr>
              <a:t>Encapsulation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" y="2340864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EEF2FC"/>
                </a:solidFill>
                <a:latin typeface="Segoe UI"/>
              </a:rPr>
              <a:t>Course data and its behaviour (display) stay together inside one class.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1828800"/>
            <a:ext cx="3977639" cy="118872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28031" y="2011680"/>
            <a:ext cx="310896" cy="41148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82896" y="208483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8B7CFF"/>
                </a:solidFill>
                <a:latin typeface="Segoe UI"/>
              </a:rPr>
              <a:t>Polymorphism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82896" y="2340864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EEF2FC"/>
                </a:solidFill>
                <a:latin typeface="Segoe UI"/>
              </a:rPr>
              <a:t>register() can be overloaded — by Course object or by course-code string.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3127248"/>
            <a:ext cx="3977639" cy="118872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7512" y="3310128"/>
            <a:ext cx="310896" cy="41148"/>
          </a:xfrm>
          <a:prstGeom prst="rect">
            <a:avLst/>
          </a:prstGeom>
          <a:solidFill>
            <a:srgbClr val="4F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" y="338328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FE3C1"/>
                </a:solidFill>
                <a:latin typeface="Segoe UI"/>
              </a:rPr>
              <a:t>Abstraction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" y="3639312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EEF2FC"/>
                </a:solidFill>
                <a:latin typeface="Segoe UI"/>
              </a:rPr>
              <a:t>The user just calls methods; catalog search and clash logic stay hidden.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63440" y="3127248"/>
            <a:ext cx="3977639" cy="118872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28031" y="3310128"/>
            <a:ext cx="310896" cy="41148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82896" y="338328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B454"/>
                </a:solidFill>
                <a:latin typeface="Segoe UI"/>
              </a:rPr>
              <a:t>Reusability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82896" y="3639312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EEF2FC"/>
                </a:solidFill>
                <a:latin typeface="Segoe UI"/>
              </a:rPr>
              <a:t>Course objects from the catalog are reused for every new registration.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4462272"/>
            <a:ext cx="8138160" cy="365760"/>
          </a:xfrm>
          <a:prstGeom prst="roundRect">
            <a:avLst>
              <a:gd name="adj" fmla="val 50000"/>
            </a:avLst>
          </a:prstGeom>
          <a:solidFill>
            <a:srgbClr val="1B1533"/>
          </a:solidFill>
          <a:ln w="9525">
            <a:solidFill>
              <a:srgbClr val="3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452170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8B7CFF"/>
                </a:solidFill>
                <a:latin typeface="Segoe UI"/>
              </a:rPr>
              <a:t>WHERE IT LIVES   </a:t>
            </a:r>
            <a:r>
              <a:rPr sz="950" b="0" i="0">
                <a:solidFill>
                  <a:srgbClr val="9AA7C9"/>
                </a:solidFill>
                <a:latin typeface="Segoe UI"/>
              </a:rPr>
              <a:t>design of the Course / Student classes and the register methods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3524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4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3524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3524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81544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81544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81544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81544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27848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27848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27848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27848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74152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74152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74152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74152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0456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0456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0456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0456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6676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6676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6676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6676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8280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5B6890"/>
                </a:solidFill>
                <a:latin typeface="Segoe UI"/>
              </a:rPr>
              <a:t>TIMETABLE BUILDER  ·  TEAM T22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77639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4000" b="1" i="0">
                <a:solidFill>
                  <a:srgbClr val="5B6890"/>
                </a:solidFill>
                <a:latin typeface="Segoe UI Light"/>
              </a:rPr>
              <a:t>09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79145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479602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9AA7C9"/>
                </a:solidFill>
                <a:latin typeface="Segoe UI"/>
              </a:rPr>
              <a:t>09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75488"/>
            <a:ext cx="274320" cy="50292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8B7CFF"/>
                </a:solidFill>
                <a:latin typeface="Segoe UI"/>
              </a:rPr>
              <a:t>CO 6 · ADVANCED JAVA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804672"/>
            <a:ext cx="7863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EF2FC"/>
                </a:solidFill>
                <a:latin typeface="Segoe UI"/>
              </a:rPr>
              <a:t>Advanced concepts, in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1389888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AA7C9"/>
                </a:solidFill>
                <a:latin typeface="Segoe UI"/>
              </a:rPr>
              <a:t>The finishing touches — safe string handling, modular structure, and room to grow.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1828800"/>
            <a:ext cx="3977639" cy="118872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7512" y="2011680"/>
            <a:ext cx="310896" cy="41148"/>
          </a:xfrm>
          <a:prstGeom prst="rect">
            <a:avLst/>
          </a:prstGeom>
          <a:solidFill>
            <a:srgbClr val="4F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" y="208483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FE3C1"/>
                </a:solidFill>
                <a:latin typeface="Segoe UI"/>
              </a:rPr>
              <a:t>String Handling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" y="2340864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EEF2FC"/>
                </a:solidFill>
                <a:latin typeface="Segoe UI"/>
              </a:rPr>
              <a:t>equals() compares course codes safely; concatenation builds the output text.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1828800"/>
            <a:ext cx="3977639" cy="118872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28031" y="2011680"/>
            <a:ext cx="310896" cy="41148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82896" y="208483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8B7CFF"/>
                </a:solidFill>
                <a:latin typeface="Segoe UI"/>
              </a:rPr>
              <a:t>Array of Objects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82896" y="2340864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EEF2FC"/>
                </a:solidFill>
                <a:latin typeface="Segoe UI"/>
              </a:rPr>
              <a:t>Course c[] = new Course[6] stores object references, not just values.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3127248"/>
            <a:ext cx="3977639" cy="118872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7512" y="3310128"/>
            <a:ext cx="310896" cy="41148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" y="338328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B454"/>
                </a:solidFill>
                <a:latin typeface="Segoe UI"/>
              </a:rPr>
              <a:t>Modular Code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" y="3639312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EEF2FC"/>
                </a:solidFill>
                <a:latin typeface="Segoe UI"/>
              </a:rPr>
              <a:t>Separate classes plus a main class keep the project organised and readable.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63440" y="3127248"/>
            <a:ext cx="3977639" cy="118872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28031" y="3310128"/>
            <a:ext cx="310896" cy="41148"/>
          </a:xfrm>
          <a:prstGeom prst="rect">
            <a:avLst/>
          </a:prstGeom>
          <a:solidFill>
            <a:srgbClr val="FF7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82896" y="338328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7AA2"/>
                </a:solidFill>
                <a:latin typeface="Segoe UI"/>
              </a:rPr>
              <a:t>Future Scope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82896" y="3639312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EEF2FC"/>
                </a:solidFill>
                <a:latin typeface="Segoe UI"/>
              </a:rPr>
              <a:t>Ready to extend with file handling, exceptions and a GUI version.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4462272"/>
            <a:ext cx="8138160" cy="365760"/>
          </a:xfrm>
          <a:prstGeom prst="roundRect">
            <a:avLst>
              <a:gd name="adj" fmla="val 50000"/>
            </a:avLst>
          </a:prstGeom>
          <a:solidFill>
            <a:srgbClr val="1B1533"/>
          </a:solidFill>
          <a:ln w="9525">
            <a:solidFill>
              <a:srgbClr val="3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452170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8B7CFF"/>
                </a:solidFill>
                <a:latin typeface="Segoe UI"/>
              </a:rPr>
              <a:t>WHERE IT LIVES   </a:t>
            </a:r>
            <a:r>
              <a:rPr sz="950" b="0" i="0">
                <a:solidFill>
                  <a:srgbClr val="9AA7C9"/>
                </a:solidFill>
                <a:latin typeface="Segoe UI"/>
              </a:rPr>
              <a:t>registration logic and the overall project structure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3524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4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3524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3524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81544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81544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81544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81544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27848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27848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27848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27848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74152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74152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74152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74152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0456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0456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0456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0456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6676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6676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6676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6676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8280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5B6890"/>
                </a:solidFill>
                <a:latin typeface="Segoe UI"/>
              </a:rPr>
              <a:t>TIMETABLE BUILDER  ·  TEAM T22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77639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4000" b="1" i="0">
                <a:solidFill>
                  <a:srgbClr val="5B6890"/>
                </a:solidFill>
                <a:latin typeface="Segoe UI Light"/>
              </a:rPr>
              <a:t>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79145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479602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9AA7C9"/>
                </a:solidFill>
                <a:latin typeface="Segoe UI"/>
              </a:rPr>
              <a:t>10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75488"/>
            <a:ext cx="274320" cy="50292"/>
          </a:xfrm>
          <a:prstGeom prst="rect">
            <a:avLst/>
          </a:prstGeom>
          <a:solidFill>
            <a:srgbClr val="4F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FE3C1"/>
                </a:solidFill>
                <a:latin typeface="Segoe UI"/>
              </a:rPr>
              <a:t>OUTPUTS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804672"/>
            <a:ext cx="7863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EF2FC"/>
                </a:solidFill>
                <a:latin typeface="Segoe UI"/>
              </a:rPr>
              <a:t>See it 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1389888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AA7C9"/>
                </a:solidFill>
                <a:latin typeface="Segoe UI"/>
              </a:rPr>
              <a:t>Registration with live clash detection — and the generated weekly grid.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1783080"/>
            <a:ext cx="3977639" cy="2651760"/>
          </a:xfrm>
          <a:prstGeom prst="roundRect">
            <a:avLst>
              <a:gd name="adj" fmla="val 6000"/>
            </a:avLst>
          </a:prstGeom>
          <a:solidFill>
            <a:srgbClr val="080D1A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2920" y="1783080"/>
            <a:ext cx="3977639" cy="274320"/>
          </a:xfrm>
          <a:prstGeom prst="roundRect">
            <a:avLst>
              <a:gd name="adj" fmla="val 6000"/>
            </a:avLst>
          </a:prstGeom>
          <a:solidFill>
            <a:srgbClr val="1A2342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12648" y="1883664"/>
            <a:ext cx="73152" cy="73152"/>
          </a:xfrm>
          <a:prstGeom prst="ellipse">
            <a:avLst/>
          </a:prstGeom>
          <a:solidFill>
            <a:srgbClr val="FF7AA2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40664" y="1883664"/>
            <a:ext cx="73152" cy="73152"/>
          </a:xfrm>
          <a:prstGeom prst="ellipse">
            <a:avLst/>
          </a:prstGeom>
          <a:solidFill>
            <a:srgbClr val="FFB454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68680" y="1883664"/>
            <a:ext cx="73152" cy="73152"/>
          </a:xfrm>
          <a:prstGeom prst="ellipse">
            <a:avLst/>
          </a:prstGeom>
          <a:solidFill>
            <a:srgbClr val="4FE3C1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1824228"/>
            <a:ext cx="3246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9AA7C9"/>
                </a:solidFill>
                <a:latin typeface="Consolas"/>
              </a:rPr>
              <a:t>registering — clash detection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" y="2167128"/>
            <a:ext cx="364845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1" i="0">
                <a:solidFill>
                  <a:srgbClr val="4FE3C1"/>
                </a:solidFill>
                <a:latin typeface="Consolas"/>
              </a:rPr>
              <a:t>▸ </a:t>
            </a:r>
            <a:r>
              <a:rPr sz="850" b="0" i="0">
                <a:solidFill>
                  <a:srgbClr val="E8ECF8"/>
                </a:solidFill>
                <a:latin typeface="Consolas"/>
              </a:rPr>
              <a:t>enter name: Rahul</a:t>
            </a:r>
          </a:p>
          <a:p>
            <a:pPr algn="l">
              <a:lnSpc>
                <a:spcPct val="128000"/>
              </a:lnSpc>
            </a:pPr>
            <a:r>
              <a:rPr sz="850" b="1" i="0">
                <a:solidFill>
                  <a:srgbClr val="4FE3C1"/>
                </a:solidFill>
                <a:latin typeface="Consolas"/>
              </a:rPr>
              <a:t>▸ </a:t>
            </a:r>
            <a:r>
              <a:rPr sz="850" b="0" i="0">
                <a:solidFill>
                  <a:srgbClr val="E8ECF8"/>
                </a:solidFill>
                <a:latin typeface="Consolas"/>
              </a:rPr>
              <a:t>enter roll no: 25</a:t>
            </a:r>
          </a:p>
          <a:p>
            <a:pPr algn="l">
              <a:lnSpc>
                <a:spcPct val="128000"/>
              </a:lnSpc>
            </a:pPr>
            <a:r>
              <a:rPr sz="850" b="1" i="0">
                <a:solidFill>
                  <a:srgbClr val="4FE3C1"/>
                </a:solidFill>
                <a:latin typeface="Consolas"/>
              </a:rPr>
              <a:t>▸ </a:t>
            </a:r>
            <a:r>
              <a:rPr sz="850" b="0" i="0">
                <a:solidFill>
                  <a:srgbClr val="9AA7C9"/>
                </a:solidFill>
                <a:latin typeface="Consolas"/>
              </a:rPr>
              <a:t>1.show  2.register  3.timetable  4.credits  5.exit</a:t>
            </a:r>
          </a:p>
          <a:p>
            <a:pPr algn="l">
              <a:lnSpc>
                <a:spcPct val="128000"/>
              </a:lnSpc>
            </a:pPr>
            <a:r>
              <a:rPr sz="850" b="1" i="0">
                <a:solidFill>
                  <a:srgbClr val="4FE3C1"/>
                </a:solidFill>
                <a:latin typeface="Consolas"/>
              </a:rPr>
              <a:t>▸ </a:t>
            </a:r>
            <a:r>
              <a:rPr sz="850" b="0" i="0">
                <a:solidFill>
                  <a:srgbClr val="E8ECF8"/>
                </a:solidFill>
                <a:latin typeface="Consolas"/>
              </a:rPr>
              <a:t>enter choice: 2</a:t>
            </a:r>
          </a:p>
          <a:p>
            <a:pPr algn="l">
              <a:lnSpc>
                <a:spcPct val="128000"/>
              </a:lnSpc>
            </a:pPr>
            <a:r>
              <a:rPr sz="850" b="1" i="0">
                <a:solidFill>
                  <a:srgbClr val="4FE3C1"/>
                </a:solidFill>
                <a:latin typeface="Consolas"/>
              </a:rPr>
              <a:t>▸ </a:t>
            </a:r>
            <a:r>
              <a:rPr sz="850" b="0" i="0">
                <a:solidFill>
                  <a:srgbClr val="E8ECF8"/>
                </a:solidFill>
                <a:latin typeface="Consolas"/>
              </a:rPr>
              <a:t>enter course code: CS101</a:t>
            </a:r>
          </a:p>
          <a:p>
            <a:pPr algn="l">
              <a:lnSpc>
                <a:spcPct val="128000"/>
              </a:lnSpc>
            </a:pPr>
            <a:r>
              <a:rPr sz="850" b="1" i="0">
                <a:solidFill>
                  <a:srgbClr val="4FE3C1"/>
                </a:solidFill>
                <a:latin typeface="Consolas"/>
              </a:rPr>
              <a:t>▸ </a:t>
            </a:r>
            <a:r>
              <a:rPr sz="850" b="0" i="0">
                <a:solidFill>
                  <a:srgbClr val="4FE3C1"/>
                </a:solidFill>
                <a:latin typeface="Consolas"/>
              </a:rPr>
              <a:t>registered CS101</a:t>
            </a:r>
          </a:p>
          <a:p>
            <a:pPr algn="l">
              <a:lnSpc>
                <a:spcPct val="128000"/>
              </a:lnSpc>
            </a:pPr>
            <a:r>
              <a:rPr sz="850" b="1" i="0">
                <a:solidFill>
                  <a:srgbClr val="4FE3C1"/>
                </a:solidFill>
                <a:latin typeface="Consolas"/>
              </a:rPr>
              <a:t>▸ </a:t>
            </a:r>
            <a:r>
              <a:rPr sz="850" b="0" i="0">
                <a:solidFill>
                  <a:srgbClr val="E8ECF8"/>
                </a:solidFill>
                <a:latin typeface="Consolas"/>
              </a:rPr>
              <a:t>enter choice: 2</a:t>
            </a:r>
          </a:p>
          <a:p>
            <a:pPr algn="l">
              <a:lnSpc>
                <a:spcPct val="128000"/>
              </a:lnSpc>
            </a:pPr>
            <a:r>
              <a:rPr sz="850" b="1" i="0">
                <a:solidFill>
                  <a:srgbClr val="4FE3C1"/>
                </a:solidFill>
                <a:latin typeface="Consolas"/>
              </a:rPr>
              <a:t>▸ </a:t>
            </a:r>
            <a:r>
              <a:rPr sz="850" b="0" i="0">
                <a:solidFill>
                  <a:srgbClr val="E8ECF8"/>
                </a:solidFill>
                <a:latin typeface="Consolas"/>
              </a:rPr>
              <a:t>enter course code: CS103</a:t>
            </a:r>
          </a:p>
          <a:p>
            <a:pPr algn="l">
              <a:lnSpc>
                <a:spcPct val="128000"/>
              </a:lnSpc>
            </a:pPr>
            <a:r>
              <a:rPr sz="850" b="1" i="0">
                <a:solidFill>
                  <a:srgbClr val="4FE3C1"/>
                </a:solidFill>
                <a:latin typeface="Consolas"/>
              </a:rPr>
              <a:t>▸ </a:t>
            </a:r>
            <a:r>
              <a:rPr sz="850" b="0" i="0">
                <a:solidFill>
                  <a:srgbClr val="4FE3C1"/>
                </a:solidFill>
                <a:latin typeface="Consolas"/>
              </a:rPr>
              <a:t>registered CS103</a:t>
            </a:r>
          </a:p>
          <a:p>
            <a:pPr algn="l">
              <a:lnSpc>
                <a:spcPct val="128000"/>
              </a:lnSpc>
            </a:pPr>
            <a:r>
              <a:rPr sz="850" b="1" i="0">
                <a:solidFill>
                  <a:srgbClr val="4FE3C1"/>
                </a:solidFill>
                <a:latin typeface="Consolas"/>
              </a:rPr>
              <a:t>▸ </a:t>
            </a:r>
            <a:r>
              <a:rPr sz="850" b="0" i="0">
                <a:solidFill>
                  <a:srgbClr val="E8ECF8"/>
                </a:solidFill>
                <a:latin typeface="Consolas"/>
              </a:rPr>
              <a:t>enter choice: 2</a:t>
            </a:r>
          </a:p>
          <a:p>
            <a:pPr algn="l">
              <a:lnSpc>
                <a:spcPct val="128000"/>
              </a:lnSpc>
            </a:pPr>
            <a:r>
              <a:rPr sz="850" b="1" i="0">
                <a:solidFill>
                  <a:srgbClr val="4FE3C1"/>
                </a:solidFill>
                <a:latin typeface="Consolas"/>
              </a:rPr>
              <a:t>▸ </a:t>
            </a:r>
            <a:r>
              <a:rPr sz="850" b="0" i="0">
                <a:solidFill>
                  <a:srgbClr val="E8ECF8"/>
                </a:solidFill>
                <a:latin typeface="Consolas"/>
              </a:rPr>
              <a:t>enter course code: CS102</a:t>
            </a:r>
          </a:p>
          <a:p>
            <a:pPr algn="l">
              <a:lnSpc>
                <a:spcPct val="128000"/>
              </a:lnSpc>
            </a:pPr>
            <a:r>
              <a:rPr sz="850" b="1" i="0">
                <a:solidFill>
                  <a:srgbClr val="4FE3C1"/>
                </a:solidFill>
                <a:latin typeface="Consolas"/>
              </a:rPr>
              <a:t>▸ </a:t>
            </a:r>
            <a:r>
              <a:rPr sz="850" b="0" i="0">
                <a:solidFill>
                  <a:srgbClr val="FF7AA2"/>
                </a:solidFill>
                <a:latin typeface="Consolas"/>
              </a:rPr>
              <a:t>CLASH with CS101 — rejected</a:t>
            </a:r>
          </a:p>
          <a:p>
            <a:pPr algn="l">
              <a:lnSpc>
                <a:spcPct val="128000"/>
              </a:lnSpc>
            </a:pPr>
            <a:r>
              <a:rPr sz="850" b="1" i="0">
                <a:solidFill>
                  <a:srgbClr val="4FE3C1"/>
                </a:solidFill>
                <a:latin typeface="Consolas"/>
              </a:rPr>
              <a:t>▸ </a:t>
            </a:r>
            <a:r>
              <a:rPr sz="850" b="0" i="0">
                <a:solidFill>
                  <a:srgbClr val="E8ECF8"/>
                </a:solidFill>
                <a:latin typeface="Consolas"/>
              </a:rPr>
              <a:t>enter choice: 5</a:t>
            </a:r>
          </a:p>
          <a:p>
            <a:pPr algn="l">
              <a:lnSpc>
                <a:spcPct val="128000"/>
              </a:lnSpc>
            </a:pPr>
            <a:r>
              <a:rPr sz="850" b="1" i="0">
                <a:solidFill>
                  <a:srgbClr val="4FE3C1"/>
                </a:solidFill>
                <a:latin typeface="Consolas"/>
              </a:rPr>
              <a:t>▸ </a:t>
            </a:r>
            <a:r>
              <a:rPr sz="850" b="0" i="0">
                <a:solidFill>
                  <a:srgbClr val="FFB454"/>
                </a:solidFill>
                <a:latin typeface="Consolas"/>
              </a:rPr>
              <a:t>bye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63440" y="1783080"/>
            <a:ext cx="3977639" cy="2651760"/>
          </a:xfrm>
          <a:prstGeom prst="roundRect">
            <a:avLst>
              <a:gd name="adj" fmla="val 6000"/>
            </a:avLst>
          </a:prstGeom>
          <a:solidFill>
            <a:srgbClr val="080D1A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663440" y="1783080"/>
            <a:ext cx="3977639" cy="274320"/>
          </a:xfrm>
          <a:prstGeom prst="roundRect">
            <a:avLst>
              <a:gd name="adj" fmla="val 6000"/>
            </a:avLst>
          </a:prstGeom>
          <a:solidFill>
            <a:srgbClr val="1A2342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73168" y="1883664"/>
            <a:ext cx="73152" cy="73152"/>
          </a:xfrm>
          <a:prstGeom prst="ellipse">
            <a:avLst/>
          </a:prstGeom>
          <a:solidFill>
            <a:srgbClr val="FF7AA2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901183" y="1883664"/>
            <a:ext cx="73152" cy="73152"/>
          </a:xfrm>
          <a:prstGeom prst="ellipse">
            <a:avLst/>
          </a:prstGeom>
          <a:solidFill>
            <a:srgbClr val="FFB454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029200" y="1883664"/>
            <a:ext cx="73152" cy="73152"/>
          </a:xfrm>
          <a:prstGeom prst="ellipse">
            <a:avLst/>
          </a:prstGeom>
          <a:solidFill>
            <a:srgbClr val="4FE3C1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57800" y="1824228"/>
            <a:ext cx="3246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9AA7C9"/>
                </a:solidFill>
                <a:latin typeface="Consolas"/>
              </a:rPr>
              <a:t>timetable output — 2D array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28031" y="2167128"/>
            <a:ext cx="364845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1" i="0">
                <a:solidFill>
                  <a:srgbClr val="4FE3C1"/>
                </a:solidFill>
                <a:latin typeface="Consolas"/>
              </a:rPr>
              <a:t>▸ </a:t>
            </a:r>
            <a:r>
              <a:rPr sz="850" b="0" i="0">
                <a:solidFill>
                  <a:srgbClr val="E8ECF8"/>
                </a:solidFill>
                <a:latin typeface="Consolas"/>
              </a:rPr>
              <a:t>enter choice: 3</a:t>
            </a:r>
          </a:p>
          <a:p>
            <a:pPr algn="l">
              <a:lnSpc>
                <a:spcPct val="128000"/>
              </a:lnSpc>
            </a:pPr>
            <a:r>
              <a:rPr sz="850" b="1" i="0">
                <a:solidFill>
                  <a:srgbClr val="4FE3C1"/>
                </a:solidFill>
                <a:latin typeface="Consolas"/>
              </a:rPr>
              <a:t>▸ </a:t>
            </a:r>
            <a:r>
              <a:rPr sz="850" b="0" i="0">
                <a:solidFill>
                  <a:srgbClr val="E8ECF8"/>
                </a:solidFill>
                <a:latin typeface="Consolas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850" b="1" i="0">
                <a:solidFill>
                  <a:srgbClr val="4FE3C1"/>
                </a:solidFill>
                <a:latin typeface="Consolas"/>
              </a:rPr>
              <a:t>▸ </a:t>
            </a:r>
            <a:r>
              <a:rPr sz="850" b="0" i="0">
                <a:solidFill>
                  <a:srgbClr val="8B7CFF"/>
                </a:solidFill>
                <a:latin typeface="Consolas"/>
              </a:rPr>
              <a:t>  Timetable of Rahul (25)</a:t>
            </a:r>
          </a:p>
          <a:p>
            <a:pPr algn="l">
              <a:lnSpc>
                <a:spcPct val="128000"/>
              </a:lnSpc>
            </a:pPr>
            <a:r>
              <a:rPr sz="850" b="1" i="0">
                <a:solidFill>
                  <a:srgbClr val="4FE3C1"/>
                </a:solidFill>
                <a:latin typeface="Consolas"/>
              </a:rPr>
              <a:t>▸ </a:t>
            </a:r>
            <a:r>
              <a:rPr sz="850" b="0" i="0">
                <a:solidFill>
                  <a:srgbClr val="E8ECF8"/>
                </a:solidFill>
                <a:latin typeface="Consolas"/>
              </a:rPr>
              <a:t>  Mon:  [CS101]</a:t>
            </a:r>
          </a:p>
          <a:p>
            <a:pPr algn="l">
              <a:lnSpc>
                <a:spcPct val="128000"/>
              </a:lnSpc>
            </a:pPr>
            <a:r>
              <a:rPr sz="850" b="1" i="0">
                <a:solidFill>
                  <a:srgbClr val="4FE3C1"/>
                </a:solidFill>
                <a:latin typeface="Consolas"/>
              </a:rPr>
              <a:t>▸ </a:t>
            </a:r>
            <a:r>
              <a:rPr sz="850" b="0" i="0">
                <a:solidFill>
                  <a:srgbClr val="E8ECF8"/>
                </a:solidFill>
                <a:latin typeface="Consolas"/>
              </a:rPr>
              <a:t>  Tue:  [CS103]</a:t>
            </a:r>
          </a:p>
          <a:p>
            <a:pPr algn="l">
              <a:lnSpc>
                <a:spcPct val="128000"/>
              </a:lnSpc>
            </a:pPr>
            <a:r>
              <a:rPr sz="850" b="1" i="0">
                <a:solidFill>
                  <a:srgbClr val="4FE3C1"/>
                </a:solidFill>
                <a:latin typeface="Consolas"/>
              </a:rPr>
              <a:t>▸ </a:t>
            </a:r>
            <a:r>
              <a:rPr sz="850" b="0" i="0">
                <a:solidFill>
                  <a:srgbClr val="5B6890"/>
                </a:solidFill>
                <a:latin typeface="Consolas"/>
              </a:rPr>
              <a:t>  Wed:  ---</a:t>
            </a:r>
          </a:p>
          <a:p>
            <a:pPr algn="l">
              <a:lnSpc>
                <a:spcPct val="128000"/>
              </a:lnSpc>
            </a:pPr>
            <a:r>
              <a:rPr sz="850" b="1" i="0">
                <a:solidFill>
                  <a:srgbClr val="4FE3C1"/>
                </a:solidFill>
                <a:latin typeface="Consolas"/>
              </a:rPr>
              <a:t>▸ </a:t>
            </a:r>
            <a:r>
              <a:rPr sz="850" b="0" i="0">
                <a:solidFill>
                  <a:srgbClr val="5B6890"/>
                </a:solidFill>
                <a:latin typeface="Consolas"/>
              </a:rPr>
              <a:t>  Thu:  ---</a:t>
            </a:r>
          </a:p>
          <a:p>
            <a:pPr algn="l">
              <a:lnSpc>
                <a:spcPct val="128000"/>
              </a:lnSpc>
            </a:pPr>
            <a:r>
              <a:rPr sz="850" b="1" i="0">
                <a:solidFill>
                  <a:srgbClr val="4FE3C1"/>
                </a:solidFill>
                <a:latin typeface="Consolas"/>
              </a:rPr>
              <a:t>▸ </a:t>
            </a:r>
            <a:r>
              <a:rPr sz="850" b="0" i="0">
                <a:solidFill>
                  <a:srgbClr val="5B6890"/>
                </a:solidFill>
                <a:latin typeface="Consolas"/>
              </a:rPr>
              <a:t>  Fri:  ---</a:t>
            </a:r>
          </a:p>
          <a:p>
            <a:pPr algn="l">
              <a:lnSpc>
                <a:spcPct val="128000"/>
              </a:lnSpc>
            </a:pPr>
            <a:r>
              <a:rPr sz="850" b="1" i="0">
                <a:solidFill>
                  <a:srgbClr val="4FE3C1"/>
                </a:solidFill>
                <a:latin typeface="Consolas"/>
              </a:rPr>
              <a:t>▸ </a:t>
            </a:r>
            <a:r>
              <a:rPr sz="850" b="0" i="0">
                <a:solidFill>
                  <a:srgbClr val="E8ECF8"/>
                </a:solidFill>
                <a:latin typeface="Consolas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850" b="1" i="0">
                <a:solidFill>
                  <a:srgbClr val="4FE3C1"/>
                </a:solidFill>
                <a:latin typeface="Consolas"/>
              </a:rPr>
              <a:t>▸ </a:t>
            </a:r>
            <a:r>
              <a:rPr sz="850" b="0" i="0">
                <a:solidFill>
                  <a:srgbClr val="E8ECF8"/>
                </a:solidFill>
                <a:latin typeface="Consolas"/>
              </a:rPr>
              <a:t>enter choice: 4</a:t>
            </a:r>
          </a:p>
          <a:p>
            <a:pPr algn="l">
              <a:lnSpc>
                <a:spcPct val="128000"/>
              </a:lnSpc>
            </a:pPr>
            <a:r>
              <a:rPr sz="850" b="1" i="0">
                <a:solidFill>
                  <a:srgbClr val="4FE3C1"/>
                </a:solidFill>
                <a:latin typeface="Consolas"/>
              </a:rPr>
              <a:t>▸ </a:t>
            </a:r>
            <a:r>
              <a:rPr sz="850" b="0" i="0">
                <a:solidFill>
                  <a:srgbClr val="4FE3C1"/>
                </a:solidFill>
                <a:latin typeface="Consolas"/>
              </a:rPr>
              <a:t>total credits: 8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4572000"/>
            <a:ext cx="8138160" cy="292608"/>
          </a:xfrm>
          <a:prstGeom prst="roundRect">
            <a:avLst>
              <a:gd name="adj" fmla="val 50000"/>
            </a:avLst>
          </a:prstGeom>
          <a:solidFill>
            <a:srgbClr val="1B1533"/>
          </a:solidFill>
          <a:ln w="9525">
            <a:solidFill>
              <a:srgbClr val="3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4617720"/>
            <a:ext cx="8138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8B7CFF"/>
                </a:solidFill>
                <a:latin typeface="Segoe UI"/>
              </a:rPr>
              <a:t>NOTE   </a:t>
            </a:r>
            <a:r>
              <a:rPr sz="900" b="0" i="0">
                <a:solidFill>
                  <a:srgbClr val="9AA7C9"/>
                </a:solidFill>
                <a:latin typeface="Segoe UI"/>
              </a:rPr>
              <a:t>CS102 was auto-rejected — its day &amp; slot clashed with an already-registered course.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3524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4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3524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3524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81544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81544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81544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81544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27848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27848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27848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27848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74152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74152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74152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74152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0456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0456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0456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0456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6676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6676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6676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6676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8280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5B6890"/>
                </a:solidFill>
                <a:latin typeface="Segoe UI"/>
              </a:rPr>
              <a:t>TIMETABLE BUILDER  ·  TEAM T22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77639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4000" b="1" i="0">
                <a:solidFill>
                  <a:srgbClr val="5B6890"/>
                </a:solidFill>
                <a:latin typeface="Segoe UI Light"/>
              </a:rPr>
              <a:t>11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79145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479602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9AA7C9"/>
                </a:solidFill>
                <a:latin typeface="Segoe UI"/>
              </a:rPr>
              <a:t>11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75488"/>
            <a:ext cx="274320" cy="50292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8B7CFF"/>
                </a:solidFill>
                <a:latin typeface="Segoe UI"/>
              </a:rPr>
              <a:t>CONCLUSION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804672"/>
            <a:ext cx="7863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EF2FC"/>
                </a:solidFill>
                <a:latin typeface="Segoe UI"/>
              </a:rPr>
              <a:t>What we achieved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1389888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AA7C9"/>
                </a:solidFill>
                <a:latin typeface="Segoe UI"/>
              </a:rPr>
              <a:t>A working system that turned a weekly chore into a guaranteed conflict-free grid.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1828800"/>
            <a:ext cx="3977639" cy="118872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7512" y="2011680"/>
            <a:ext cx="310896" cy="41148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" y="208483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8B7CFF"/>
                </a:solidFill>
                <a:latin typeface="Segoe UI"/>
              </a:rPr>
              <a:t>WORKING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" y="2340864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EEF2FC"/>
                </a:solidFill>
                <a:latin typeface="Segoe UI"/>
              </a:rPr>
              <a:t>Menu-driven Timetable Builder that registers courses and prints the weekly grid.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1828800"/>
            <a:ext cx="3977639" cy="118872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28031" y="2011680"/>
            <a:ext cx="310896" cy="41148"/>
          </a:xfrm>
          <a:prstGeom prst="rect">
            <a:avLst/>
          </a:prstGeom>
          <a:solidFill>
            <a:srgbClr val="FF7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82896" y="208483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7AA2"/>
                </a:solidFill>
                <a:latin typeface="Segoe UI"/>
              </a:rPr>
              <a:t>CLASH PREVENTION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82896" y="2340864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EEF2FC"/>
                </a:solidFill>
                <a:latin typeface="Segoe UI"/>
              </a:rPr>
              <a:t>Same-day + same-slot registrations are detected and blocked every time.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3127248"/>
            <a:ext cx="3977639" cy="118872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7512" y="3310128"/>
            <a:ext cx="310896" cy="41148"/>
          </a:xfrm>
          <a:prstGeom prst="rect">
            <a:avLst/>
          </a:prstGeom>
          <a:solidFill>
            <a:srgbClr val="4F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" y="338328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FE3C1"/>
                </a:solidFill>
                <a:latin typeface="Segoe UI"/>
              </a:rPr>
              <a:t>CONCEPT COVERAGE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" y="3639312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EEF2FC"/>
                </a:solidFill>
                <a:latin typeface="Segoe UI"/>
              </a:rPr>
              <a:t>Classes, objects, constructors, arrays, methods &amp; Scanner — CO 1 through CO 6.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63440" y="3127248"/>
            <a:ext cx="3977639" cy="118872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28031" y="3310128"/>
            <a:ext cx="310896" cy="41148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82896" y="338328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B454"/>
                </a:solidFill>
                <a:latin typeface="Segoe UI"/>
              </a:rPr>
              <a:t>LEARNING OUTCOME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82896" y="3639312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EEF2FC"/>
                </a:solidFill>
                <a:latin typeface="Segoe UI"/>
              </a:rPr>
              <a:t>Hands-on practice of OOP design and array-based problem solving.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4462272"/>
            <a:ext cx="8138160" cy="365760"/>
          </a:xfrm>
          <a:prstGeom prst="roundRect">
            <a:avLst>
              <a:gd name="adj" fmla="val 50000"/>
            </a:avLst>
          </a:prstGeom>
          <a:solidFill>
            <a:srgbClr val="12261F"/>
          </a:solidFill>
          <a:ln w="9525">
            <a:solidFill>
              <a:srgbClr val="1E4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452170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4FE3C1"/>
                </a:solidFill>
                <a:latin typeface="Segoe UI"/>
              </a:rPr>
              <a:t>FUTURE SCOPE   </a:t>
            </a:r>
            <a:r>
              <a:rPr sz="950" b="1" i="0">
                <a:solidFill>
                  <a:srgbClr val="EEF2FC"/>
                </a:solidFill>
                <a:latin typeface="Segoe UI"/>
              </a:rPr>
              <a:t>file saving   ·   exceptions   ·   GUI version (JavaFX)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3524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4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3524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3524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81544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81544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81544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81544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27848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27848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27848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27848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74152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74152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74152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74152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0456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0456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0456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0456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6676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6676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6676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6676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8280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5B6890"/>
                </a:solidFill>
                <a:latin typeface="Segoe UI"/>
              </a:rPr>
              <a:t>TIMETABLE BUILDER  ·  TEAM T22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77639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4000" b="1" i="0">
                <a:solidFill>
                  <a:srgbClr val="5B6890"/>
                </a:solidFill>
                <a:latin typeface="Segoe UI Light"/>
              </a:rPr>
              <a:t>12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79145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479602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9AA7C9"/>
                </a:solidFill>
                <a:latin typeface="Segoe UI"/>
              </a:rPr>
              <a:t>12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75488"/>
            <a:ext cx="274320" cy="50292"/>
          </a:xfrm>
          <a:prstGeom prst="rect">
            <a:avLst/>
          </a:prstGeom>
          <a:solidFill>
            <a:srgbClr val="4F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FE3C1"/>
                </a:solidFill>
                <a:latin typeface="Segoe UI"/>
              </a:rPr>
              <a:t>PROJECT LINKS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804672"/>
            <a:ext cx="7863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EF2FC"/>
                </a:solidFill>
                <a:latin typeface="Segoe UI"/>
              </a:rPr>
              <a:t>Repository &amp; 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1389888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AA7C9"/>
                </a:solidFill>
                <a:latin typeface="Segoe UI"/>
              </a:rPr>
              <a:t>Source code and the geo-tagged team photo.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1783080"/>
            <a:ext cx="4892040" cy="123444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7512" y="1965960"/>
            <a:ext cx="310896" cy="41148"/>
          </a:xfrm>
          <a:prstGeom prst="rect">
            <a:avLst/>
          </a:prstGeom>
          <a:solidFill>
            <a:srgbClr val="4F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202996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FE3C1"/>
                </a:solidFill>
                <a:latin typeface="Segoe UI"/>
              </a:rPr>
              <a:t>GITHUB REPOSITORY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2304288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EF2FC"/>
                </a:solidFill>
                <a:latin typeface="Consolas"/>
              </a:rPr>
              <a:t>github.com/glaxminarashimha/KLH_CSE-CSIT-PSPJAVA-T22-CRTB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260604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FFB454"/>
                </a:solidFill>
                <a:latin typeface="Segoe UI"/>
              </a:rPr>
              <a:t>RUN IT   </a:t>
            </a:r>
            <a:r>
              <a:rPr sz="900" b="0" i="0">
                <a:solidFill>
                  <a:srgbClr val="9AA7C9"/>
                </a:solidFill>
                <a:latin typeface="Consolas"/>
              </a:rPr>
              <a:t>javac TimetableBuilder.java &amp;&amp; java TimetableBuilder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3200400"/>
            <a:ext cx="4892040" cy="1234440"/>
          </a:xfrm>
          <a:prstGeom prst="roundRect">
            <a:avLst>
              <a:gd name="adj" fmla="val 75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67512" y="3383280"/>
            <a:ext cx="310896" cy="41148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344728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B454"/>
                </a:solidFill>
                <a:latin typeface="Segoe UI"/>
              </a:rPr>
              <a:t>GEO-TAGGED TEAM PHOTO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37216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EF2FC"/>
                </a:solidFill>
                <a:latin typeface="Consolas"/>
              </a:rPr>
              <a:t>https://share.google/nMtgPtDduhaEmDcWt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402336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8B7CFF"/>
                </a:solidFill>
                <a:latin typeface="Segoe UI"/>
              </a:rPr>
              <a:t>SOURCE   </a:t>
            </a:r>
            <a:r>
              <a:rPr sz="900" b="0" i="0">
                <a:solidFill>
                  <a:srgbClr val="9AA7C9"/>
                </a:solidFill>
                <a:latin typeface="Segoe UI"/>
              </a:rPr>
              <a:t>TimetableBuilder.java — single-file Java project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23560" y="1783080"/>
            <a:ext cx="3017520" cy="2651760"/>
          </a:xfrm>
          <a:prstGeom prst="roundRect">
            <a:avLst>
              <a:gd name="adj" fmla="val 6000"/>
            </a:avLst>
          </a:prstGeom>
          <a:solidFill>
            <a:srgbClr val="1A2342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720840" y="2286000"/>
            <a:ext cx="822960" cy="822960"/>
          </a:xfrm>
          <a:prstGeom prst="ellipse">
            <a:avLst/>
          </a:prstGeom>
          <a:solidFill>
            <a:srgbClr val="8B7C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20840" y="2395728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0" i="0">
                <a:solidFill>
                  <a:srgbClr val="8B7CFF"/>
                </a:solidFill>
                <a:latin typeface="Segoe UI"/>
              </a:rPr>
              <a:t>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06440" y="324612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EEF2FC"/>
                </a:solidFill>
                <a:latin typeface="Segoe UI"/>
              </a:rPr>
              <a:t>TEAM PHOTO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06440" y="3493008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9AA7C9"/>
                </a:solidFill>
                <a:latin typeface="Segoe UI"/>
              </a:rPr>
              <a:t>Geo-tagged image of Team T22 — insert here.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06440" y="406908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5B6890"/>
                </a:solidFill>
                <a:latin typeface="Segoe UI"/>
              </a:rPr>
              <a:t>LAT · LNG · TIMESTAMP EMBEDDED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3524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4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3524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3524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81544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81544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81544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81544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27848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27848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27848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27848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74152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74152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74152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74152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0456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0456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0456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0456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66760" y="384048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66760" y="530352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66760" y="676656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66760" y="822959"/>
            <a:ext cx="25603" cy="25603"/>
          </a:xfrm>
          <a:prstGeom prst="ellipse">
            <a:avLst/>
          </a:prstGeom>
          <a:solidFill>
            <a:srgbClr val="5B689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8280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5B6890"/>
                </a:solidFill>
                <a:latin typeface="Segoe UI"/>
              </a:rPr>
              <a:t>TIMETABLE BUILDER  ·  TEAM T22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479145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479602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9AA7C9"/>
                </a:solidFill>
                <a:latin typeface="Segoe UI"/>
              </a:rPr>
              <a:t>13 / 13</a:t>
            </a:r>
          </a:p>
        </p:txBody>
      </p:sp>
      <p:sp>
        <p:nvSpPr>
          <p:cNvPr id="30" name="Oval 29"/>
          <p:cNvSpPr/>
          <p:nvPr/>
        </p:nvSpPr>
        <p:spPr>
          <a:xfrm>
            <a:off x="-1463040" y="2926080"/>
            <a:ext cx="4023360" cy="4023360"/>
          </a:xfrm>
          <a:prstGeom prst="ellipse">
            <a:avLst/>
          </a:prstGeom>
          <a:solidFill>
            <a:srgbClr val="8B7C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32320" y="-1463040"/>
            <a:ext cx="3840480" cy="3840480"/>
          </a:xfrm>
          <a:prstGeom prst="ellipse">
            <a:avLst/>
          </a:prstGeom>
          <a:solidFill>
            <a:srgbClr val="4FE3C1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38160" y="3291840"/>
            <a:ext cx="640080" cy="640080"/>
          </a:xfrm>
          <a:prstGeom prst="ellipse">
            <a:avLst/>
          </a:prstGeom>
          <a:solidFill>
            <a:srgbClr val="FFB45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5840" y="914400"/>
            <a:ext cx="109728" cy="109728"/>
          </a:xfrm>
          <a:prstGeom prst="ellipse">
            <a:avLst/>
          </a:prstGeom>
          <a:solidFill>
            <a:srgbClr val="FF7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777240"/>
            <a:ext cx="274320" cy="50292"/>
          </a:xfrm>
          <a:prstGeom prst="rect">
            <a:avLst/>
          </a:prstGeom>
          <a:solidFill>
            <a:srgbClr val="4F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FE3C1"/>
                </a:solidFill>
                <a:latin typeface="Segoe UI"/>
              </a:rPr>
              <a:t>PROJECT T22 · PSP-JAVA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1417320"/>
            <a:ext cx="8138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EEF2FC"/>
                </a:solidFill>
                <a:latin typeface="Segoe UI"/>
              </a:rPr>
              <a:t>Thank You!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0352" y="2514600"/>
            <a:ext cx="1920240" cy="64008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2697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9AA7C9"/>
                </a:solidFill>
                <a:latin typeface="Segoe UI"/>
              </a:rPr>
              <a:t>Any questions?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3749039"/>
            <a:ext cx="8138160" cy="685800"/>
          </a:xfrm>
          <a:prstGeom prst="roundRect">
            <a:avLst>
              <a:gd name="adj" fmla="val 12000"/>
            </a:avLst>
          </a:prstGeom>
          <a:solidFill>
            <a:srgbClr val="131A30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3858768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7CFF"/>
                </a:solidFill>
                <a:latin typeface="Segoe UI"/>
              </a:rPr>
              <a:t>TEAM T22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4087368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EF2FC"/>
                </a:solidFill>
                <a:latin typeface="Segoe UI"/>
              </a:rPr>
              <a:t>G Laxmi Narashimha </a:t>
            </a:r>
            <a:r>
              <a:rPr sz="1000" b="0" i="0">
                <a:solidFill>
                  <a:srgbClr val="9AA7C9"/>
                </a:solidFill>
                <a:latin typeface="Segoe UI"/>
              </a:rPr>
              <a:t>(2620090066)</a:t>
            </a:r>
            <a:r>
              <a:rPr sz="1100" b="0" i="0">
                <a:solidFill>
                  <a:srgbClr val="5B6890"/>
                </a:solidFill>
                <a:latin typeface="Segoe UI"/>
              </a:rPr>
              <a:t>      ·      </a:t>
            </a:r>
            <a:r>
              <a:rPr sz="1150" b="1" i="0">
                <a:solidFill>
                  <a:srgbClr val="EEF2FC"/>
                </a:solidFill>
                <a:latin typeface="Segoe UI"/>
              </a:rPr>
              <a:t>Dhaval Patel </a:t>
            </a:r>
            <a:r>
              <a:rPr sz="1000" b="0" i="0">
                <a:solidFill>
                  <a:srgbClr val="9AA7C9"/>
                </a:solidFill>
                <a:latin typeface="Segoe UI"/>
              </a:rPr>
              <a:t>(2620030431)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